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5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55A5-349F-E900-9EAB-DCBBE40BD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360E9-A785-7FA8-A7A5-C84A162C9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2BA94-C39D-23A5-CB9A-95760A5C4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6C612-A517-F2FF-C105-C3119FC3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75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CF076-98C6-F155-8A96-BF1587E2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F9144-5CAB-FD51-67E5-8A6F3B2F0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7A382-384B-782F-89FB-FDD16052D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4422C-F631-9770-97F9-423E13721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3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7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Protocol RAG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181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Protocol-grounded clinical recommendation prototype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Protocol RAG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9C8BF"/>
                </a:solidFill>
              </a:rPr>
              <a:t>Applicability-aware clinical recommendation prototype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9C4068C-F238-6870-AE07-13C57410785C}"/>
              </a:ext>
            </a:extLst>
          </p:cNvPr>
          <p:cNvSpPr/>
          <p:nvPr/>
        </p:nvSpPr>
        <p:spPr>
          <a:xfrm>
            <a:off x="805510" y="4262168"/>
            <a:ext cx="4664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F0EC"/>
                </a:solidFill>
                <a:latin typeface="Aptos Display" pitchFamily="34" charset="0"/>
              </a:rPr>
              <a:t>Saif Ahmed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Session: 2020-21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Dept of Computer Science and Engineering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Sylhet Engineering College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Sylhet.</a:t>
            </a:r>
            <a:endParaRPr lang="en-US" sz="20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E21ABF9-A174-C831-BEEE-BDF75291F5A4}"/>
              </a:ext>
            </a:extLst>
          </p:cNvPr>
          <p:cNvSpPr/>
          <p:nvPr/>
        </p:nvSpPr>
        <p:spPr>
          <a:xfrm>
            <a:off x="822288" y="3393208"/>
            <a:ext cx="221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9C8BF"/>
                </a:solidFill>
              </a:rPr>
              <a:t>Presented by</a:t>
            </a:r>
            <a:endParaRPr lang="en-US" sz="20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A3414948-D376-42A2-0DEE-2A9BC6B6188C}"/>
              </a:ext>
            </a:extLst>
          </p:cNvPr>
          <p:cNvSpPr/>
          <p:nvPr/>
        </p:nvSpPr>
        <p:spPr>
          <a:xfrm>
            <a:off x="6503033" y="4162898"/>
            <a:ext cx="4664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D9F0EC"/>
              </a:solidFill>
              <a:latin typeface="Aptos Display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Admin, HEAT Sub-Project PIN #13863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United International University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D9F0EC"/>
                </a:solidFill>
                <a:latin typeface="Aptos Display" pitchFamily="34" charset="0"/>
              </a:rPr>
              <a:t>Dhaka-1212, Bangladesh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434E8C74-E3C1-6652-1D89-236C80653ED3}"/>
              </a:ext>
            </a:extLst>
          </p:cNvPr>
          <p:cNvSpPr/>
          <p:nvPr/>
        </p:nvSpPr>
        <p:spPr>
          <a:xfrm>
            <a:off x="6519811" y="3293938"/>
            <a:ext cx="221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9C8BF"/>
                </a:solidFill>
              </a:rPr>
              <a:t>Presented to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ECB5-D13D-8C86-754E-3D212AF5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307981-C9BB-85D1-F70A-E6CEA49E8F30}"/>
              </a:ext>
            </a:extLst>
          </p:cNvPr>
          <p:cNvSpPr/>
          <p:nvPr/>
        </p:nvSpPr>
        <p:spPr>
          <a:xfrm>
            <a:off x="685800" y="13258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Protocol RAG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FBFA6A-AA7F-E04C-B9AB-C54857098063}"/>
              </a:ext>
            </a:extLst>
          </p:cNvPr>
          <p:cNvSpPr/>
          <p:nvPr/>
        </p:nvSpPr>
        <p:spPr>
          <a:xfrm>
            <a:off x="713232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79C8BF"/>
                </a:solidFill>
              </a:rPr>
              <a:t>Applicability-aware clinical recommendation prototype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875A7B-DFE5-B835-3F95-2DD40B7A747E}"/>
              </a:ext>
            </a:extLst>
          </p:cNvPr>
          <p:cNvSpPr/>
          <p:nvPr/>
        </p:nvSpPr>
        <p:spPr>
          <a:xfrm>
            <a:off x="713232" y="288036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EB8049-B90E-7E05-B242-4D31A1EB7055}"/>
              </a:ext>
            </a:extLst>
          </p:cNvPr>
          <p:cNvSpPr/>
          <p:nvPr/>
        </p:nvSpPr>
        <p:spPr>
          <a:xfrm>
            <a:off x="786384" y="2935224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C28"/>
                </a:solidFill>
              </a:rPr>
              <a:t>4 clinical protocols</a:t>
            </a:r>
            <a:endParaRPr lang="en-US" sz="10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D5A12A-98CF-9497-6C2A-770A2FD07C68}"/>
              </a:ext>
            </a:extLst>
          </p:cNvPr>
          <p:cNvSpPr/>
          <p:nvPr/>
        </p:nvSpPr>
        <p:spPr>
          <a:xfrm>
            <a:off x="2761488" y="288036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36F852-71D7-E61A-4C23-8546F77DBC88}"/>
              </a:ext>
            </a:extLst>
          </p:cNvPr>
          <p:cNvSpPr/>
          <p:nvPr/>
        </p:nvSpPr>
        <p:spPr>
          <a:xfrm>
            <a:off x="2834640" y="29352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C28"/>
                </a:solidFill>
              </a:rPr>
              <a:t>17 canonical cards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BD9D7D-27D1-2CE3-32D9-73C5FD51CC4C}"/>
              </a:ext>
            </a:extLst>
          </p:cNvPr>
          <p:cNvSpPr/>
          <p:nvPr/>
        </p:nvSpPr>
        <p:spPr>
          <a:xfrm>
            <a:off x="4956048" y="288036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EEFDD1-6480-BEDE-B9C4-798C2E48CE9A}"/>
              </a:ext>
            </a:extLst>
          </p:cNvPr>
          <p:cNvSpPr/>
          <p:nvPr/>
        </p:nvSpPr>
        <p:spPr>
          <a:xfrm>
            <a:off x="5029200" y="293522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C28"/>
                </a:solidFill>
              </a:rPr>
              <a:t>2 runnable modes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6EDEF8D-5869-C9E4-66DF-0EA7D6A71BC2}"/>
              </a:ext>
            </a:extLst>
          </p:cNvPr>
          <p:cNvSpPr/>
          <p:nvPr/>
        </p:nvSpPr>
        <p:spPr>
          <a:xfrm>
            <a:off x="7205472" y="288036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C95D5E-53A2-976F-355E-CE26521FC0C6}"/>
              </a:ext>
            </a:extLst>
          </p:cNvPr>
          <p:cNvSpPr/>
          <p:nvPr/>
        </p:nvSpPr>
        <p:spPr>
          <a:xfrm>
            <a:off x="7278624" y="293522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C28"/>
                </a:solidFill>
              </a:rPr>
              <a:t>6 frozen cases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984113-DDF7-CDC0-BD66-330575397702}"/>
              </a:ext>
            </a:extLst>
          </p:cNvPr>
          <p:cNvSpPr/>
          <p:nvPr/>
        </p:nvSpPr>
        <p:spPr>
          <a:xfrm>
            <a:off x="9464040" y="288036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DB5B8DB-254B-552C-44B6-854B14245061}"/>
              </a:ext>
            </a:extLst>
          </p:cNvPr>
          <p:cNvSpPr/>
          <p:nvPr/>
        </p:nvSpPr>
        <p:spPr>
          <a:xfrm>
            <a:off x="9537192" y="293522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C28"/>
                </a:solidFill>
              </a:rPr>
              <a:t>12 saved outputs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9817447-D76E-BC4D-5D95-62DEDA18755D}"/>
              </a:ext>
            </a:extLst>
          </p:cNvPr>
          <p:cNvSpPr/>
          <p:nvPr/>
        </p:nvSpPr>
        <p:spPr>
          <a:xfrm>
            <a:off x="713232" y="3840480"/>
            <a:ext cx="10744200" cy="1188720"/>
          </a:xfrm>
          <a:prstGeom prst="roundRect">
            <a:avLst>
              <a:gd name="adj" fmla="val 6154"/>
            </a:avLst>
          </a:prstGeom>
          <a:solidFill>
            <a:srgbClr val="244B46"/>
          </a:solidFill>
          <a:ln w="12700">
            <a:solidFill>
              <a:srgbClr val="315D57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7F0E27B-AED4-0E51-9FF2-D18089E7AC6A}"/>
              </a:ext>
            </a:extLst>
          </p:cNvPr>
          <p:cNvSpPr/>
          <p:nvPr/>
        </p:nvSpPr>
        <p:spPr>
          <a:xfrm>
            <a:off x="91440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C8BF"/>
                </a:solidFill>
              </a:rPr>
              <a:t>Goal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8D17E7-D32F-9E4A-81DD-194B639ABF0D}"/>
              </a:ext>
            </a:extLst>
          </p:cNvPr>
          <p:cNvSpPr/>
          <p:nvPr/>
        </p:nvSpPr>
        <p:spPr>
          <a:xfrm>
            <a:off x="914400" y="44074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6F4"/>
                </a:solidFill>
              </a:rPr>
              <a:t>Given patient symptoms and available context, retrieve protocol evidence and produce a probable diagnosis, investigations, medication planning, advice, and explicit missing-information handling.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AAB8CE-8378-558F-44F7-C40DA0FE3ACE}"/>
              </a:ext>
            </a:extLst>
          </p:cNvPr>
          <p:cNvSpPr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8D5D0"/>
                </a:solidFill>
              </a:rPr>
              <a:t>Interview presentation • prototype + experiment + paper discussion</a:t>
            </a:r>
            <a:endParaRPr lang="en-US" sz="13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19587F7-713A-34BF-4ACE-62DC544F10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0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181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protocols to retrievable clinical knowledge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55A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550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Dengue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99339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Diagnosis • warning signs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Investigations • management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150876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6EA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6550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Hypertension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19272" y="199339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Confirmation • investigations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Primary-care management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15000" y="150876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6550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Cholera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79592" y="199339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Dehydration assessment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Plan A/B/C • antibiotics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50876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B07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6550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Chikungunya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99339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Presentation • testing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Supportive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22988" y="2240280"/>
            <a:ext cx="301752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92273" y="2240280"/>
            <a:ext cx="301752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61556" y="2240280"/>
            <a:ext cx="301752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" y="365760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244B46"/>
          </a:solidFill>
          <a:ln w="17780">
            <a:solidFill>
              <a:srgbClr val="55A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380390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Canonical JSON/JSONL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4712" y="4142232"/>
            <a:ext cx="255117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Card 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Disease + clinical category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Prerequisites / exclusions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Recommended action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Medication details where supported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365760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244B46"/>
          </a:solidFill>
          <a:ln w="17780">
            <a:solidFill>
              <a:srgbClr val="6EA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80390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Evidence fidelity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82312" y="4142232"/>
            <a:ext cx="255117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Source title + version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PDF page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Supporting passage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No guessed medication fields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365760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244B46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9912" y="380390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RAG index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39912" y="4142232"/>
            <a:ext cx="255117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all-MiniLM-L6-v2 embeddings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FAISS IndexFlatIP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Metadata retained for traceability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40480" y="4462272"/>
            <a:ext cx="566928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98080" y="4462272"/>
            <a:ext cx="566928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2165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vs. tested improvement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B1"/>
                </a:solidFill>
              </a:rPr>
              <a:t>Baseline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2D4441"/>
          </a:solidFill>
          <a:ln w="17780">
            <a:solidFill>
              <a:srgbClr val="8EA3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390169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Patient 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450592"/>
            <a:ext cx="1362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19659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2D4441"/>
          </a:solidFill>
          <a:ln w="17780">
            <a:solidFill>
              <a:srgbClr val="8EA3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9094" y="2291564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Semantic retrieval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27023" y="2736118"/>
            <a:ext cx="1362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Similarity only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19659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2D4441"/>
          </a:solidFill>
          <a:ln w="17780">
            <a:solidFill>
              <a:srgbClr val="8EA3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827" y="225570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Top-k 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93792" y="2594027"/>
            <a:ext cx="1362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No prerequisite check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39" y="1965960"/>
            <a:ext cx="2033195" cy="1143000"/>
          </a:xfrm>
          <a:prstGeom prst="roundRect">
            <a:avLst>
              <a:gd name="adj" fmla="val 6400"/>
            </a:avLst>
          </a:prstGeom>
          <a:solidFill>
            <a:srgbClr val="2D4441"/>
          </a:solidFill>
          <a:ln w="17780">
            <a:solidFill>
              <a:srgbClr val="C86F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092" y="2400300"/>
            <a:ext cx="1709928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71232" y="2450592"/>
            <a:ext cx="1362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23160" y="2542032"/>
            <a:ext cx="45720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0" y="2542032"/>
            <a:ext cx="45720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20840" y="2542032"/>
            <a:ext cx="68580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78D"/>
                </a:solidFill>
              </a:rPr>
              <a:t>Improved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4315968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4441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11" y="478105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Patient input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800600"/>
            <a:ext cx="10881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14600" y="4315968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4441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156" y="4785001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Semantic retrieval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79192" y="4800600"/>
            <a:ext cx="10881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4315968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4441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6412" y="474017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Primary context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60883" y="5177118"/>
            <a:ext cx="1088136" cy="2560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Disease focus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4315968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4441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4632601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Applicability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72248" y="5006787"/>
            <a:ext cx="10881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Prerequisites + exclusions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63840" y="4315968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4441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465949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Missing info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28432" y="5033684"/>
            <a:ext cx="10881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Block unsafe guessing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646920" y="4315968"/>
            <a:ext cx="1974568" cy="1234440"/>
          </a:xfrm>
          <a:prstGeom prst="roundRect">
            <a:avLst>
              <a:gd name="adj" fmla="val 5926"/>
            </a:avLst>
          </a:prstGeom>
          <a:solidFill>
            <a:srgbClr val="2D4441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50596" y="4698223"/>
            <a:ext cx="1648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811512" y="4800600"/>
            <a:ext cx="10881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148840" y="4937760"/>
            <a:ext cx="36576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931920" y="4937760"/>
            <a:ext cx="36576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715000" y="4937760"/>
            <a:ext cx="36576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98080" y="4937760"/>
            <a:ext cx="36576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81160" y="4937760"/>
            <a:ext cx="36576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87952" y="571500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4B3B2B"/>
          </a:solidFill>
          <a:ln w="15240">
            <a:solidFill>
              <a:srgbClr val="D28C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58521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E6CE"/>
                </a:solidFill>
              </a:rPr>
              <a:t>Tested improvement = primary context + applicability + missing-information checks</a:t>
            </a:r>
            <a:endParaRPr lang="en-US" sz="11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316455" y="621702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D5D0"/>
                </a:solidFill>
              </a:rPr>
              <a:t>Future: NER input • doctor acceptance/feedback • clinician-approved prescription assembly</a:t>
            </a:r>
            <a:endParaRPr lang="en-US" sz="115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81933C2-6274-9D8D-8046-B3E702F1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43" y="1091987"/>
            <a:ext cx="10022943" cy="5134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Demo: why applicability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5D0"/>
                </a:solidFill>
              </a:rPr>
              <a:t>Same disease context, one added prerequisite changes the management pathway.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59020" y="2107603"/>
            <a:ext cx="3154680" cy="1245196"/>
          </a:xfrm>
          <a:prstGeom prst="roundRect">
            <a:avLst>
              <a:gd name="adj" fmla="val 3810"/>
            </a:avLst>
          </a:prstGeom>
          <a:solidFill>
            <a:srgbClr val="2D4441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23612" y="2253907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Case 05 — Incomplete Cholera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23612" y="2592235"/>
            <a:ext cx="282549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35-year-old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Acute watery diarrhoea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No dehydration severity provided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59020" y="3794760"/>
            <a:ext cx="3154680" cy="1180650"/>
          </a:xfrm>
          <a:prstGeom prst="roundRect">
            <a:avLst>
              <a:gd name="adj" fmla="val 3810"/>
            </a:avLst>
          </a:prstGeom>
          <a:solidFill>
            <a:srgbClr val="2D4441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3612" y="394106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Case 06 — Modified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23612" y="4279392"/>
            <a:ext cx="282549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Same presentation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weak pulse • sunken eyes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unable to drink • severe dehydration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35216" y="3067723"/>
            <a:ext cx="73152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44179" y="4754880"/>
            <a:ext cx="731520" cy="0"/>
          </a:xfrm>
          <a:prstGeom prst="line">
            <a:avLst/>
          </a:prstGeom>
          <a:noFill/>
          <a:ln w="21590">
            <a:solidFill>
              <a:srgbClr val="9FCFC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28100" y="2107603"/>
            <a:ext cx="2926080" cy="1245196"/>
          </a:xfrm>
          <a:prstGeom prst="roundRect">
            <a:avLst>
              <a:gd name="adj" fmla="val 3810"/>
            </a:avLst>
          </a:prstGeom>
          <a:solidFill>
            <a:srgbClr val="2D4441"/>
          </a:solidFill>
          <a:ln w="17780">
            <a:solidFill>
              <a:srgbClr val="C86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2692" y="2253907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Improved response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92692" y="2592235"/>
            <a:ext cx="259689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Diagnosis + assessment retained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Severity-dependent treatment blocked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Missing information stated explicitly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28100" y="3794760"/>
            <a:ext cx="2926080" cy="1180650"/>
          </a:xfrm>
          <a:prstGeom prst="roundRect">
            <a:avLst>
              <a:gd name="adj" fmla="val 3810"/>
            </a:avLst>
          </a:prstGeom>
          <a:solidFill>
            <a:srgbClr val="2D4441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2692" y="39410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6F4"/>
                </a:solidFill>
              </a:rPr>
              <a:t>Improved response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2692" y="4279392"/>
            <a:ext cx="259689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Severe dehydration detected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Plan C becomes applicable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9F0EC"/>
                </a:solidFill>
              </a:rPr>
              <a:t>Plan A / B remain blocked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on six frozen fictional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5D0"/>
                </a:solidFill>
              </a:rPr>
              <a:t>Four predefined checks per output; 12 outputs total.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9C8BF"/>
                </a:solidFill>
              </a:rPr>
              <a:t>Predefined checks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8404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Expected behavior occurred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Recommendations supported by citations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Relevant restrictions preserved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Missing information handled without guessing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600200"/>
            <a:ext cx="1280160" cy="3566160"/>
          </a:xfrm>
          <a:prstGeom prst="rect">
            <a:avLst/>
          </a:prstGeom>
          <a:solidFill>
            <a:srgbClr val="315D57"/>
          </a:solidFill>
          <a:ln w="12700">
            <a:solidFill>
              <a:srgbClr val="315D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868680"/>
            <a:ext cx="1280160" cy="4297680"/>
          </a:xfrm>
          <a:prstGeom prst="rect">
            <a:avLst/>
          </a:prstGeom>
          <a:solidFill>
            <a:srgbClr val="55A9A0"/>
          </a:solidFill>
          <a:ln w="12700">
            <a:solidFill>
              <a:srgbClr val="55A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265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16/24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006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F0EC"/>
                </a:solidFill>
              </a:rPr>
              <a:t>66.67%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5321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F0EC"/>
                </a:solidFill>
              </a:rPr>
              <a:t>Baseline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C28"/>
                </a:solidFill>
              </a:rPr>
              <a:t>24/24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C28"/>
                </a:solidFill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5321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F0EC"/>
                </a:solidFill>
              </a:rPr>
              <a:t>Improved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4173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244B46"/>
          </a:solidFill>
          <a:ln w="17780">
            <a:solidFill>
              <a:srgbClr val="6EA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Latency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77072" y="1901952"/>
            <a:ext cx="25968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Baseline avg: 0.0469 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Improved avg: 0.0279 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0" y="29718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C86F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31181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Where baseline failed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77072" y="3456432"/>
            <a:ext cx="25968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Cholera: incompatible treatment plans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Incomplete case: treatment despite missing severity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Chikungunya: cross-disease retrieval leakage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760720"/>
            <a:ext cx="10652760" cy="411480"/>
          </a:xfrm>
          <a:prstGeom prst="roundRect">
            <a:avLst>
              <a:gd name="adj" fmla="val 11111"/>
            </a:avLst>
          </a:prstGeom>
          <a:solidFill>
            <a:srgbClr val="4B3B2B"/>
          </a:solidFill>
          <a:ln w="12700">
            <a:solidFill>
              <a:srgbClr val="D28C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8795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BE7CE"/>
                </a:solidFill>
              </a:rPr>
              <a:t>24/24 = predefined safety-and-behavior checks on six self-authored cases — NOT clinical accuracy or independent validation.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304" y="647453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Related paper: multimodal AMIE (Saab et al., 2026)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6EA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636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Research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901952"/>
            <a:ext cx="24140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Text-only diagnostic dialogue misses images, ECGs, and clinical documents used in real care.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11880" y="14173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55A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6472" y="15636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76472" y="1901952"/>
            <a:ext cx="24140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Multimodal AMIE + state-aware dialogue phases that update patient state, DDx, and knowledge gaps.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B078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5636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93992" y="1901952"/>
            <a:ext cx="24140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Randomized, blinded exploratory OSCE-style study with 105 simulated telehealth consultations.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46920" y="14173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244B46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11512" y="156362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Result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11512" y="1901952"/>
            <a:ext cx="16367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Higher performance on 29/32 assessed axes; 7/9 multimodal-reasoning metrics.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4290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D4441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C88D"/>
                </a:solidFill>
              </a:rPr>
              <a:t>What I adopt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44805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Maintain an evolving patient state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Make knowledge gaps explicit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Use new evidence to refine recommendations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42900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2D4441"/>
          </a:solidFill>
          <a:ln w="17780">
            <a:solidFill>
              <a:srgbClr val="C86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B1B1"/>
                </a:solidFill>
              </a:rPr>
              <a:t>Bangladesh GP transfer limitation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069080"/>
            <a:ext cx="47548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Simulated telehealth, not real Bangladesh primary care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Local prevalence, language and resource constraints differ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AF6F4"/>
                </a:solidFill>
              </a:rPr>
              <a:t>Full multimodal infrastructure exceeds this assessment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5D0"/>
                </a:solidFill>
              </a:rPr>
              <a:t>Source: Saab et al., Nature Medicine 32, 1726–1736 (2026) • DOI: 10.1038/s41591-026-04371-0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63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Takeaways, limitations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244B46"/>
          </a:solidFill>
          <a:ln w="17780">
            <a:solidFill>
              <a:srgbClr val="6FB5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What worked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309981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Protocol evidence remained traceable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Applicability rules reduced prerequisite errors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Missing information was surfaced instead of guessed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Same UI supports baseline and improved modes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244B46"/>
          </a:solidFill>
          <a:ln w="17780">
            <a:solidFill>
              <a:srgbClr val="D28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Current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901952"/>
            <a:ext cx="309981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Only four protocols / 17 cards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Six self-authored fictional cases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No real clinician validation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Rule coverage is intentionally narrow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Local prototype timing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244B46"/>
          </a:solidFill>
          <a:ln w="17780">
            <a:solidFill>
              <a:srgbClr val="6EA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6F4"/>
                </a:solidFill>
              </a:rPr>
              <a:t>Future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1901952"/>
            <a:ext cx="309981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NER extraction from notes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Doctor accept / reject / modify feedback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Broader protocol coverage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Blinded clinician review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F0EC"/>
                </a:solidFill>
              </a:rPr>
              <a:t>• Clinician-approved prescription assembly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927080" cy="1097280"/>
          </a:xfrm>
          <a:prstGeom prst="roundRect">
            <a:avLst>
              <a:gd name="adj" fmla="val 6667"/>
            </a:avLst>
          </a:prstGeom>
          <a:solidFill>
            <a:srgbClr val="55A9A0"/>
          </a:solidFill>
          <a:ln w="12700">
            <a:solidFill>
              <a:srgbClr val="79C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28"/>
                </a:solidFill>
              </a:rPr>
              <a:t>Core contribution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55371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28"/>
                </a:solidFill>
              </a:rPr>
              <a:t>A small, auditable clinical RAG prototype that separates semantic relevance from patient-specific applicability before producing a recommendation.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6810D-DCBE-2713-1D19-808CA966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12B7BE0-139F-514E-782C-F200862A0F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F0E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E250B050-4340-1B7C-6B89-776A09CEC282}"/>
              </a:ext>
            </a:extLst>
          </p:cNvPr>
          <p:cNvSpPr/>
          <p:nvPr/>
        </p:nvSpPr>
        <p:spPr>
          <a:xfrm>
            <a:off x="518651" y="3695452"/>
            <a:ext cx="6147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4D1071FE-BC0C-1FD5-522B-27806C1D7098}"/>
              </a:ext>
            </a:extLst>
          </p:cNvPr>
          <p:cNvSpPr/>
          <p:nvPr/>
        </p:nvSpPr>
        <p:spPr>
          <a:xfrm>
            <a:off x="528483" y="21635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Protocol RAG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1651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753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Protocol RAG</dc:title>
  <dc:subject>Clinical Protocol RAG interview presentation</dc:subject>
  <dc:creator>OpenAI</dc:creator>
  <cp:lastModifiedBy>Saif Ahmed</cp:lastModifiedBy>
  <cp:revision>3</cp:revision>
  <dcterms:created xsi:type="dcterms:W3CDTF">2026-10-22T13:10:59Z</dcterms:created>
  <dcterms:modified xsi:type="dcterms:W3CDTF">2026-10-22T14:43:06Z</dcterms:modified>
</cp:coreProperties>
</file>